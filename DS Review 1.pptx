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3" name="Shape 17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0" algn="ctr">
              <a:buSzTx/>
              <a:buFontTx/>
              <a:buNone/>
              <a:defRPr sz="2400"/>
            </a:lvl2pPr>
            <a:lvl3pPr marL="0" indent="0" algn="ctr">
              <a:buSzTx/>
              <a:buFontTx/>
              <a:buNone/>
              <a:defRPr sz="2400"/>
            </a:lvl3pPr>
            <a:lvl4pPr marL="0" indent="0" algn="ctr">
              <a:buSzTx/>
              <a:buFontTx/>
              <a:buNone/>
              <a:defRPr sz="2400"/>
            </a:lvl4pPr>
            <a:lvl5pPr marL="0" indent="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90" cy="823914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0">
              <a:buSzTx/>
              <a:buFontTx/>
              <a:buNone/>
              <a:defRPr b="1" sz="2400"/>
            </a:lvl2pPr>
            <a:lvl3pPr marL="0" indent="0">
              <a:buSzTx/>
              <a:buFontTx/>
              <a:buNone/>
              <a:defRPr b="1" sz="2400"/>
            </a:lvl3pPr>
            <a:lvl4pPr marL="0" indent="0">
              <a:buSzTx/>
              <a:buFontTx/>
              <a:buNone/>
              <a:defRPr b="1" sz="2400"/>
            </a:lvl4pPr>
            <a:lvl5pPr marL="0" indent="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6" y="2057400"/>
            <a:ext cx="3932241" cy="3811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3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0" indent="0" algn="ctr">
              <a:buSzTx/>
              <a:buFontTx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0" indent="0" algn="ctr">
              <a:buSzTx/>
              <a:buFontTx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0" indent="0" algn="ctr">
              <a:buSzTx/>
              <a:buFontTx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0" indent="0" algn="ctr">
              <a:buSzTx/>
              <a:buFontTx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2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Calibri"/>
                <a:ea typeface="Calibri"/>
                <a:cs typeface="Calibri"/>
                <a:sym typeface="Calibri"/>
              </a:defRPr>
            </a:lvl1pPr>
            <a:lvl2pPr>
              <a:defRPr>
                <a:latin typeface="Calibri"/>
                <a:ea typeface="Calibri"/>
                <a:cs typeface="Calibri"/>
                <a:sym typeface="Calibri"/>
              </a:defRPr>
            </a:lvl2pPr>
            <a:lvl3pPr>
              <a:defRPr>
                <a:latin typeface="Calibri"/>
                <a:ea typeface="Calibri"/>
                <a:cs typeface="Calibri"/>
                <a:sym typeface="Calibri"/>
              </a:defRPr>
            </a:lvl3pPr>
            <a:lvl4pPr>
              <a:defRPr>
                <a:latin typeface="Calibri"/>
                <a:ea typeface="Calibri"/>
                <a:cs typeface="Calibri"/>
                <a:sym typeface="Calibri"/>
              </a:defRPr>
            </a:lvl4pPr>
            <a:lvl5pPr>
              <a:defRPr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11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indent="0">
              <a:buSzTx/>
              <a:buFontTx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indent="0">
              <a:buSzTx/>
              <a:buFontTx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indent="0">
              <a:buSzTx/>
              <a:buFontTx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indent="0">
              <a:buSzTx/>
              <a:buFontTx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/>
          <p:nvPr>
            <p:ph type="sldNum" sz="quarter" idx="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0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/>
                <a:ea typeface="Calibri"/>
                <a:cs typeface="Calibri"/>
                <a:sym typeface="Calibri"/>
              </a:defRPr>
            </a:lvl1pPr>
            <a:lvl2pPr>
              <a:defRPr>
                <a:latin typeface="Calibri"/>
                <a:ea typeface="Calibri"/>
                <a:cs typeface="Calibri"/>
                <a:sym typeface="Calibri"/>
              </a:defRPr>
            </a:lvl2pPr>
            <a:lvl3pPr>
              <a:defRPr>
                <a:latin typeface="Calibri"/>
                <a:ea typeface="Calibri"/>
                <a:cs typeface="Calibri"/>
                <a:sym typeface="Calibri"/>
              </a:defRPr>
            </a:lvl3pPr>
            <a:lvl4pPr>
              <a:defRPr>
                <a:latin typeface="Calibri"/>
                <a:ea typeface="Calibri"/>
                <a:cs typeface="Calibri"/>
                <a:sym typeface="Calibri"/>
              </a:defRPr>
            </a:lvl4pPr>
            <a:lvl5pPr>
              <a:defRPr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1" name="Slide Number"/>
          <p:cNvSpPr txBox="1"/>
          <p:nvPr>
            <p:ph type="sldNum" sz="quarter" idx="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9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90" cy="823914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marL="0" indent="0">
              <a:buSzTx/>
              <a:buFontTx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2pPr>
            <a:lvl3pPr marL="0" indent="0">
              <a:buSzTx/>
              <a:buFontTx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3pPr>
            <a:lvl4pPr marL="0" indent="0">
              <a:buSzTx/>
              <a:buFontTx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4pPr>
            <a:lvl5pPr marL="0" indent="0">
              <a:buSzTx/>
              <a:buFontTx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131" name="Slide Number"/>
          <p:cNvSpPr txBox="1"/>
          <p:nvPr>
            <p:ph type="sldNum" sz="quarter" idx="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39" name="Slide Number"/>
          <p:cNvSpPr txBox="1"/>
          <p:nvPr>
            <p:ph type="sldNum" sz="quarter" idx="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lide Number"/>
          <p:cNvSpPr txBox="1"/>
          <p:nvPr>
            <p:ph type="sldNum" sz="quarter" idx="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54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marL="718457" indent="-261257">
              <a:defRPr sz="3200">
                <a:latin typeface="Calibri"/>
                <a:ea typeface="Calibri"/>
                <a:cs typeface="Calibri"/>
                <a:sym typeface="Calibri"/>
              </a:defRPr>
            </a:lvl2pPr>
            <a:lvl3pPr marL="1219200" indent="-304800">
              <a:defRPr sz="3200">
                <a:latin typeface="Calibri"/>
                <a:ea typeface="Calibri"/>
                <a:cs typeface="Calibri"/>
                <a:sym typeface="Calibri"/>
              </a:defRPr>
            </a:lvl3pPr>
            <a:lvl4pPr marL="1737360" indent="-365760">
              <a:defRPr sz="3200">
                <a:latin typeface="Calibri"/>
                <a:ea typeface="Calibri"/>
                <a:cs typeface="Calibri"/>
                <a:sym typeface="Calibri"/>
              </a:defRPr>
            </a:lvl4pPr>
            <a:lvl5pPr marL="2194560" indent="-365760">
              <a:defRPr sz="32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5" name="Text Placeholder 3"/>
          <p:cNvSpPr/>
          <p:nvPr>
            <p:ph type="body" sz="quarter" idx="21"/>
          </p:nvPr>
        </p:nvSpPr>
        <p:spPr>
          <a:xfrm>
            <a:off x="839786" y="2057400"/>
            <a:ext cx="3932241" cy="3811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6" name="Slide Number"/>
          <p:cNvSpPr txBox="1"/>
          <p:nvPr>
            <p:ph type="sldNum" sz="quarter" idx="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64" name="Picture Placeholder 2"/>
          <p:cNvSpPr/>
          <p:nvPr>
            <p:ph type="pic" sz="half" idx="2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65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1pPr>
            <a:lvl2pPr marL="0" indent="0">
              <a:buSzTx/>
              <a:buFontTx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marL="0" indent="0">
              <a:buSzTx/>
              <a:buFontTx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marL="0" indent="0">
              <a:buSzTx/>
              <a:buFontTx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marL="0" indent="0">
              <a:buSzTx/>
              <a:buFontTx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6" name="Slide Number"/>
          <p:cNvSpPr txBox="1"/>
          <p:nvPr>
            <p:ph type="sldNum" sz="quarter" idx="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80147" y="6404293"/>
            <a:ext cx="273654" cy="2692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757575"/>
                </a:solidFill>
                <a:latin typeface="+mj-lt"/>
                <a:ea typeface="+mj-ea"/>
                <a:cs typeface="+mj-cs"/>
                <a:sym typeface="Apto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Footer Placeholder 34"/>
          <p:cNvSpPr txBox="1"/>
          <p:nvPr/>
        </p:nvSpPr>
        <p:spPr>
          <a:xfrm>
            <a:off x="4084318" y="6404293"/>
            <a:ext cx="4023363" cy="26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757575"/>
                </a:solidFill>
                <a:latin typeface="+mj-lt"/>
                <a:ea typeface="+mj-ea"/>
                <a:cs typeface="+mj-cs"/>
                <a:sym typeface="Aptos"/>
              </a:defRPr>
            </a:lvl1pPr>
          </a:lstStyle>
          <a:p>
            <a:pPr/>
            <a:r>
              <a:t>DS Project Review-1</a:t>
            </a:r>
          </a:p>
        </p:txBody>
      </p:sp>
      <p:graphicFrame>
        <p:nvGraphicFramePr>
          <p:cNvPr id="176" name="Table 17"/>
          <p:cNvGraphicFramePr/>
          <p:nvPr/>
        </p:nvGraphicFramePr>
        <p:xfrm>
          <a:off x="8193271" y="4898509"/>
          <a:ext cx="3702052" cy="75237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702050"/>
              </a:tblGrid>
              <a:tr h="752368">
                <a:tc>
                  <a:txBody>
                    <a:bodyPr/>
                    <a:lstStyle/>
                    <a:p>
                      <a:pPr algn="l">
                        <a:defRPr b="1" sz="160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Team Members</a:t>
                      </a:r>
                    </a:p>
                    <a:p>
                      <a:pPr algn="l">
                        <a:lnSpc>
                          <a:spcPct val="90000"/>
                        </a:lnSpc>
                        <a:spcBef>
                          <a:spcPts val="1000"/>
                        </a:spcBef>
                        <a:defRPr sz="1600"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Rochan - 2420030176</a:t>
                      </a:r>
                    </a:p>
                    <a:p>
                      <a:pPr algn="l">
                        <a:lnSpc>
                          <a:spcPct val="90000"/>
                        </a:lnSpc>
                        <a:spcBef>
                          <a:spcPts val="1000"/>
                        </a:spcBef>
                        <a:defRPr sz="1600"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Adhithya Reddy- 2420030252</a:t>
                      </a:r>
                    </a:p>
                    <a:p>
                      <a:pPr algn="l">
                        <a:lnSpc>
                          <a:spcPct val="90000"/>
                        </a:lnSpc>
                        <a:spcBef>
                          <a:spcPts val="1000"/>
                        </a:spcBef>
                        <a:defRPr sz="1600"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Bhanu Prakash - 2420030374</a:t>
                      </a:r>
                    </a:p>
                  </a:txBody>
                  <a:tcPr marL="45720" marR="45720" marT="45720" marB="45720" anchor="t" anchorCtr="0" horzOverflow="overflow"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</a:tbl>
          </a:graphicData>
        </a:graphic>
      </p:graphicFrame>
      <p:grpSp>
        <p:nvGrpSpPr>
          <p:cNvPr id="179" name="Group 20"/>
          <p:cNvGrpSpPr/>
          <p:nvPr/>
        </p:nvGrpSpPr>
        <p:grpSpPr>
          <a:xfrm>
            <a:off x="7981127" y="4741589"/>
            <a:ext cx="307849" cy="280935"/>
            <a:chOff x="60999" y="66227"/>
            <a:chExt cx="307847" cy="280933"/>
          </a:xfrm>
        </p:grpSpPr>
        <p:sp>
          <p:nvSpPr>
            <p:cNvPr id="177" name="Isosceles Triangle 21"/>
            <p:cNvSpPr/>
            <p:nvPr/>
          </p:nvSpPr>
          <p:spPr>
            <a:xfrm rot="8294948">
              <a:off x="118150" y="90195"/>
              <a:ext cx="160849" cy="232998"/>
            </a:xfrm>
            <a:prstGeom prst="triangle">
              <a:avLst/>
            </a:prstGeom>
            <a:solidFill>
              <a:srgbClr val="FF66FF"/>
            </a:solidFill>
            <a:ln w="19050" cap="flat">
              <a:solidFill>
                <a:srgbClr val="092937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ptos"/>
                </a:defRPr>
              </a:pPr>
            </a:p>
          </p:txBody>
        </p:sp>
        <p:sp>
          <p:nvSpPr>
            <p:cNvPr id="178" name="Isosceles Triangle 22"/>
            <p:cNvSpPr/>
            <p:nvPr/>
          </p:nvSpPr>
          <p:spPr>
            <a:xfrm rot="11852143">
              <a:off x="234146" y="116507"/>
              <a:ext cx="114249" cy="153382"/>
            </a:xfrm>
            <a:prstGeom prst="triangle">
              <a:avLst/>
            </a:prstGeom>
            <a:solidFill>
              <a:srgbClr val="FF66FF"/>
            </a:solidFill>
            <a:ln w="19050" cap="flat">
              <a:solidFill>
                <a:srgbClr val="092937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ptos"/>
                </a:defRPr>
              </a:pPr>
            </a:p>
          </p:txBody>
        </p:sp>
      </p:grpSp>
      <p:graphicFrame>
        <p:nvGraphicFramePr>
          <p:cNvPr id="180" name="Table 29"/>
          <p:cNvGraphicFramePr/>
          <p:nvPr/>
        </p:nvGraphicFramePr>
        <p:xfrm>
          <a:off x="-795815" y="4774124"/>
          <a:ext cx="5902328" cy="133212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373565"/>
                <a:gridCol w="4528760"/>
              </a:tblGrid>
              <a:tr h="1332118"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50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algn="l">
                        <a:defRPr b="1" sz="160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Under the Guidance of</a:t>
                      </a:r>
                    </a:p>
                    <a:p>
                      <a:pPr algn="l">
                        <a:spcBef>
                          <a:spcPts val="200"/>
                        </a:spcBef>
                        <a:defRPr b="1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rPr sz="1600">
                          <a:solidFill>
                            <a:srgbClr val="C00000"/>
                          </a:solidFill>
                        </a:rPr>
                        <a:t>Ms. B Prathusha</a:t>
                      </a:r>
                    </a:p>
                    <a:p>
                      <a:pPr algn="l">
                        <a:spcBef>
                          <a:spcPts val="200"/>
                        </a:spcBef>
                        <a:defRPr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Assistant Professor, </a:t>
                      </a:r>
                    </a:p>
                    <a:p>
                      <a:pPr algn="l">
                        <a:spcBef>
                          <a:spcPts val="200"/>
                        </a:spcBef>
                        <a:defRPr b="1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Department of Computer Science and Engineering, </a:t>
                      </a:r>
                    </a:p>
                    <a:p>
                      <a:pPr algn="l">
                        <a:spcBef>
                          <a:spcPts val="200"/>
                        </a:spcBef>
                        <a:defRPr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KLH CSE Bowrampet Campus</a:t>
                      </a:r>
                    </a:p>
                  </a:txBody>
                  <a:tcPr marL="45720" marR="45720" marT="45720" marB="45720" anchor="t" anchorCtr="0" horzOverflow="overflow"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</a:tbl>
          </a:graphicData>
        </a:graphic>
      </p:graphicFrame>
      <p:grpSp>
        <p:nvGrpSpPr>
          <p:cNvPr id="183" name="Group 30"/>
          <p:cNvGrpSpPr/>
          <p:nvPr/>
        </p:nvGrpSpPr>
        <p:grpSpPr>
          <a:xfrm>
            <a:off x="385366" y="4538578"/>
            <a:ext cx="307848" cy="280936"/>
            <a:chOff x="60999" y="66227"/>
            <a:chExt cx="307846" cy="280934"/>
          </a:xfrm>
        </p:grpSpPr>
        <p:sp>
          <p:nvSpPr>
            <p:cNvPr id="181" name="Isosceles Triangle 31"/>
            <p:cNvSpPr/>
            <p:nvPr/>
          </p:nvSpPr>
          <p:spPr>
            <a:xfrm rot="8294948">
              <a:off x="118151" y="90195"/>
              <a:ext cx="160848" cy="232999"/>
            </a:xfrm>
            <a:prstGeom prst="triangle">
              <a:avLst/>
            </a:prstGeom>
            <a:solidFill>
              <a:srgbClr val="00B0F0"/>
            </a:solidFill>
            <a:ln w="19050" cap="flat">
              <a:solidFill>
                <a:srgbClr val="092937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ptos"/>
                </a:defRPr>
              </a:pPr>
            </a:p>
          </p:txBody>
        </p:sp>
        <p:sp>
          <p:nvSpPr>
            <p:cNvPr id="182" name="Isosceles Triangle 32"/>
            <p:cNvSpPr/>
            <p:nvPr/>
          </p:nvSpPr>
          <p:spPr>
            <a:xfrm rot="11852143">
              <a:off x="234146" y="116507"/>
              <a:ext cx="114248" cy="153382"/>
            </a:xfrm>
            <a:prstGeom prst="triangle">
              <a:avLst/>
            </a:prstGeom>
            <a:solidFill>
              <a:srgbClr val="00B0F0"/>
            </a:solidFill>
            <a:ln w="19050" cap="flat">
              <a:solidFill>
                <a:srgbClr val="092937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ptos"/>
                </a:defRPr>
              </a:pPr>
            </a:p>
          </p:txBody>
        </p:sp>
      </p:grpSp>
      <p:sp>
        <p:nvSpPr>
          <p:cNvPr id="184" name="Date Placeholder 33"/>
          <p:cNvSpPr txBox="1"/>
          <p:nvPr/>
        </p:nvSpPr>
        <p:spPr>
          <a:xfrm>
            <a:off x="883919" y="6404293"/>
            <a:ext cx="2651762" cy="26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200">
                <a:solidFill>
                  <a:srgbClr val="757575"/>
                </a:solidFill>
                <a:latin typeface="+mj-lt"/>
                <a:ea typeface="+mj-ea"/>
                <a:cs typeface="+mj-cs"/>
                <a:sym typeface="Aptos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85" name="Slide Number Placeholder 35"/>
          <p:cNvSpPr txBox="1"/>
          <p:nvPr>
            <p:ph type="sldNum" sz="quarter" idx="4294967295"/>
          </p:nvPr>
        </p:nvSpPr>
        <p:spPr>
          <a:xfrm>
            <a:off x="11164902" y="6404292"/>
            <a:ext cx="188896" cy="26923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6" name="Rectangle: Rounded Corners 3"/>
          <p:cNvSpPr/>
          <p:nvPr/>
        </p:nvSpPr>
        <p:spPr>
          <a:xfrm>
            <a:off x="638175" y="769265"/>
            <a:ext cx="10915650" cy="985643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19050">
            <a:solidFill>
              <a:srgbClr val="092937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pic>
        <p:nvPicPr>
          <p:cNvPr id="187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49379" y="0"/>
            <a:ext cx="1942621" cy="622550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TextBox 13"/>
          <p:cNvSpPr txBox="1"/>
          <p:nvPr/>
        </p:nvSpPr>
        <p:spPr>
          <a:xfrm>
            <a:off x="783907" y="1020720"/>
            <a:ext cx="10624186" cy="482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Credit Risk Scoring</a:t>
            </a:r>
          </a:p>
        </p:txBody>
      </p:sp>
      <p:sp>
        <p:nvSpPr>
          <p:cNvPr id="189" name="TextBox 16"/>
          <p:cNvSpPr txBox="1"/>
          <p:nvPr/>
        </p:nvSpPr>
        <p:spPr>
          <a:xfrm>
            <a:off x="783907" y="2246807"/>
            <a:ext cx="10624186" cy="54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DATA SCIENCE (24AD3107) Project Review-1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lide Number Placeholder 4"/>
          <p:cNvSpPr txBox="1"/>
          <p:nvPr>
            <p:ph type="sldNum" sz="quarter" idx="4294967295"/>
          </p:nvPr>
        </p:nvSpPr>
        <p:spPr>
          <a:xfrm>
            <a:off x="11172418" y="6414760"/>
            <a:ext cx="181380" cy="24830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457200"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92" name="TextBox 8"/>
          <p:cNvSpPr txBox="1"/>
          <p:nvPr/>
        </p:nvSpPr>
        <p:spPr>
          <a:xfrm>
            <a:off x="3020904" y="173545"/>
            <a:ext cx="5854246" cy="6054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defRPr b="1" sz="360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Outline of Project Work</a:t>
            </a:r>
          </a:p>
        </p:txBody>
      </p:sp>
      <p:grpSp>
        <p:nvGrpSpPr>
          <p:cNvPr id="205" name="Group 7"/>
          <p:cNvGrpSpPr/>
          <p:nvPr/>
        </p:nvGrpSpPr>
        <p:grpSpPr>
          <a:xfrm>
            <a:off x="2001360" y="1377993"/>
            <a:ext cx="6784433" cy="4193854"/>
            <a:chOff x="0" y="0"/>
            <a:chExt cx="6784432" cy="4193852"/>
          </a:xfrm>
        </p:grpSpPr>
        <p:sp>
          <p:nvSpPr>
            <p:cNvPr id="193" name="TextBox 15"/>
            <p:cNvSpPr txBox="1"/>
            <p:nvPr/>
          </p:nvSpPr>
          <p:spPr>
            <a:xfrm>
              <a:off x="745889" y="1600779"/>
              <a:ext cx="4267378" cy="391799"/>
            </a:xfrm>
            <a:prstGeom prst="rect">
              <a:avLst/>
            </a:prstGeom>
            <a:solidFill>
              <a:srgbClr val="404040"/>
            </a:solidFill>
            <a:ln w="19050" cap="flat">
              <a:solidFill>
                <a:srgbClr val="FFC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marL="430212" indent="-342900" defTabSz="457200">
                <a:lnSpc>
                  <a:spcPct val="150000"/>
                </a:lnSpc>
                <a:buSzPts val="2000"/>
                <a:buFont typeface="Arial"/>
                <a:buChar char="•"/>
                <a:tabLst>
                  <a:tab pos="444500" algn="l"/>
                </a:tabLst>
                <a:defRPr b="1" sz="2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Challenges</a:t>
              </a:r>
            </a:p>
          </p:txBody>
        </p:sp>
        <p:sp>
          <p:nvSpPr>
            <p:cNvPr id="194" name="TextBox 17"/>
            <p:cNvSpPr txBox="1"/>
            <p:nvPr/>
          </p:nvSpPr>
          <p:spPr>
            <a:xfrm>
              <a:off x="993252" y="2096795"/>
              <a:ext cx="4374695" cy="367478"/>
            </a:xfrm>
            <a:prstGeom prst="rect">
              <a:avLst/>
            </a:prstGeom>
            <a:solidFill>
              <a:srgbClr val="404040"/>
            </a:solidFill>
            <a:ln w="19050" cap="flat">
              <a:solidFill>
                <a:srgbClr val="FFC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marL="430212" indent="-342900" defTabSz="457200">
                <a:lnSpc>
                  <a:spcPct val="150000"/>
                </a:lnSpc>
                <a:buSzPts val="1800"/>
                <a:buFont typeface="Arial"/>
                <a:buChar char="•"/>
                <a:tabLst>
                  <a:tab pos="444500" algn="l"/>
                </a:tabLst>
                <a:defRPr b="1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Research Objectives</a:t>
              </a:r>
            </a:p>
          </p:txBody>
        </p:sp>
        <p:sp>
          <p:nvSpPr>
            <p:cNvPr id="195" name="TextBox 19"/>
            <p:cNvSpPr txBox="1"/>
            <p:nvPr/>
          </p:nvSpPr>
          <p:spPr>
            <a:xfrm>
              <a:off x="1210281" y="2676272"/>
              <a:ext cx="4529563" cy="367478"/>
            </a:xfrm>
            <a:prstGeom prst="rect">
              <a:avLst/>
            </a:prstGeom>
            <a:solidFill>
              <a:srgbClr val="404040"/>
            </a:solidFill>
            <a:ln w="19050" cap="flat">
              <a:solidFill>
                <a:srgbClr val="FFC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marL="430212" indent="-342900" defTabSz="457200">
                <a:lnSpc>
                  <a:spcPct val="150000"/>
                </a:lnSpc>
                <a:spcBef>
                  <a:spcPts val="500"/>
                </a:spcBef>
                <a:buSzPts val="1800"/>
                <a:buFont typeface="Arial"/>
                <a:buChar char="•"/>
                <a:tabLst>
                  <a:tab pos="444500" algn="l"/>
                </a:tabLst>
                <a:defRPr b="1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Conclusion &amp; Future Work</a:t>
              </a:r>
            </a:p>
          </p:txBody>
        </p:sp>
        <p:sp>
          <p:nvSpPr>
            <p:cNvPr id="196" name="TextBox 21"/>
            <p:cNvSpPr txBox="1"/>
            <p:nvPr/>
          </p:nvSpPr>
          <p:spPr>
            <a:xfrm>
              <a:off x="1496508" y="3223664"/>
              <a:ext cx="4774677" cy="824554"/>
            </a:xfrm>
            <a:prstGeom prst="rect">
              <a:avLst/>
            </a:prstGeom>
            <a:solidFill>
              <a:srgbClr val="404040"/>
            </a:solidFill>
            <a:ln w="19050" cap="flat">
              <a:solidFill>
                <a:srgbClr val="FFC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/>
            <a:p>
              <a:pPr marL="430212" indent="-342900" defTabSz="457200">
                <a:lnSpc>
                  <a:spcPct val="150000"/>
                </a:lnSpc>
                <a:spcBef>
                  <a:spcPts val="500"/>
                </a:spcBef>
                <a:buSzPts val="2000"/>
                <a:buFont typeface="Arial"/>
                <a:buChar char="•"/>
                <a:tabLst>
                  <a:tab pos="444500" algn="l"/>
                </a:tabLst>
                <a:defRPr b="1" sz="2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References</a:t>
              </a:r>
              <a:br/>
            </a:p>
          </p:txBody>
        </p:sp>
        <p:sp>
          <p:nvSpPr>
            <p:cNvPr id="197" name="TextBox 23"/>
            <p:cNvSpPr txBox="1"/>
            <p:nvPr/>
          </p:nvSpPr>
          <p:spPr>
            <a:xfrm>
              <a:off x="1892905" y="3826375"/>
              <a:ext cx="4891528" cy="367478"/>
            </a:xfrm>
            <a:prstGeom prst="rect">
              <a:avLst/>
            </a:prstGeom>
            <a:solidFill>
              <a:srgbClr val="404040"/>
            </a:solidFill>
            <a:ln w="19050" cap="flat">
              <a:solidFill>
                <a:srgbClr val="FFC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marL="430212" indent="-342900" defTabSz="457200">
                <a:lnSpc>
                  <a:spcPct val="150000"/>
                </a:lnSpc>
                <a:spcBef>
                  <a:spcPts val="500"/>
                </a:spcBef>
                <a:buSzPts val="1800"/>
                <a:buFont typeface="Arial"/>
                <a:buChar char="•"/>
                <a:tabLst>
                  <a:tab pos="444500" algn="l"/>
                </a:tabLst>
                <a:defRPr b="1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Publications Details</a:t>
              </a:r>
            </a:p>
          </p:txBody>
        </p:sp>
        <p:grpSp>
          <p:nvGrpSpPr>
            <p:cNvPr id="200" name="Content Placeholder 11"/>
            <p:cNvGrpSpPr/>
            <p:nvPr/>
          </p:nvGrpSpPr>
          <p:grpSpPr>
            <a:xfrm>
              <a:off x="0" y="0"/>
              <a:ext cx="3548332" cy="748998"/>
              <a:chOff x="0" y="-1"/>
              <a:chExt cx="3548331" cy="748997"/>
            </a:xfrm>
          </p:grpSpPr>
          <p:sp>
            <p:nvSpPr>
              <p:cNvPr id="198" name="Rectangle"/>
              <p:cNvSpPr/>
              <p:nvPr/>
            </p:nvSpPr>
            <p:spPr>
              <a:xfrm>
                <a:off x="-1" y="-2"/>
                <a:ext cx="3548332" cy="748998"/>
              </a:xfrm>
              <a:prstGeom prst="rect">
                <a:avLst/>
              </a:prstGeom>
              <a:solidFill>
                <a:srgbClr val="404040"/>
              </a:solidFill>
              <a:ln w="19050" cap="flat">
                <a:solidFill>
                  <a:srgbClr val="FFC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4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99" name="Focus"/>
              <p:cNvSpPr txBox="1"/>
              <p:nvPr/>
            </p:nvSpPr>
            <p:spPr>
              <a:xfrm>
                <a:off x="55243" y="9523"/>
                <a:ext cx="3437843" cy="72994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normAutofit fontScale="100000" lnSpcReduction="0"/>
              </a:bodyPr>
              <a:lstStyle/>
              <a:p>
                <a:pPr marL="84321" indent="-67208" defTabSz="179222">
                  <a:lnSpc>
                    <a:spcPct val="150000"/>
                  </a:lnSpc>
                  <a:buSzPts val="300"/>
                  <a:buFont typeface="Arial"/>
                  <a:buChar char="•"/>
                  <a:tabLst>
                    <a:tab pos="76200" algn="l"/>
                  </a:tabLst>
                  <a:defRPr b="1" sz="392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t>Focus</a:t>
                </a:r>
                <a:endParaRPr sz="539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84321" indent="-67208" defTabSz="179222">
                  <a:lnSpc>
                    <a:spcPct val="150000"/>
                  </a:lnSpc>
                  <a:buSzPts val="300"/>
                  <a:buFont typeface="Arial"/>
                  <a:buChar char="•"/>
                  <a:tabLst>
                    <a:tab pos="76200" algn="l"/>
                  </a:tabLst>
                  <a:defRPr b="1" sz="392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  <a:p>
                <a:pPr marL="84321" indent="-67208" defTabSz="179222">
                  <a:lnSpc>
                    <a:spcPct val="150000"/>
                  </a:lnSpc>
                  <a:buSzPts val="300"/>
                  <a:buFont typeface="Arial"/>
                  <a:buChar char="•"/>
                  <a:tabLst>
                    <a:tab pos="76200" algn="l"/>
                  </a:tabLst>
                  <a:defRPr b="1" sz="392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  <a:p>
                <a:pPr marL="84321" indent="-67208" defTabSz="179222">
                  <a:lnSpc>
                    <a:spcPct val="150000"/>
                  </a:lnSpc>
                  <a:buSzPts val="300"/>
                  <a:buFont typeface="Arial"/>
                  <a:buChar char="•"/>
                  <a:tabLst>
                    <a:tab pos="76200" algn="l"/>
                  </a:tabLst>
                  <a:defRPr b="1" sz="392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  <a:p>
                <a:pPr marL="84321" indent="-67208" defTabSz="179222">
                  <a:lnSpc>
                    <a:spcPct val="150000"/>
                  </a:lnSpc>
                  <a:buSzPts val="300"/>
                  <a:buFont typeface="Arial"/>
                  <a:buChar char="•"/>
                  <a:tabLst>
                    <a:tab pos="76200" algn="l"/>
                  </a:tabLst>
                  <a:defRPr b="1" sz="392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  <a:p>
                <a:pPr marL="84321" indent="-67208" defTabSz="179222">
                  <a:lnSpc>
                    <a:spcPct val="150000"/>
                  </a:lnSpc>
                  <a:buSzPts val="300"/>
                  <a:buFont typeface="Arial"/>
                  <a:buChar char="•"/>
                  <a:tabLst>
                    <a:tab pos="76200" algn="l"/>
                  </a:tabLst>
                  <a:defRPr b="1" sz="392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  <a:p>
                <a:pPr marL="44805" indent="-44805" defTabSz="179222">
                  <a:lnSpc>
                    <a:spcPct val="130000"/>
                  </a:lnSpc>
                  <a:buSzPts val="300"/>
                  <a:buFont typeface="Arial"/>
                  <a:buChar char="•"/>
                  <a:defRPr sz="392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</p:grpSp>
        <p:grpSp>
          <p:nvGrpSpPr>
            <p:cNvPr id="203" name="Content Placeholder 11"/>
            <p:cNvGrpSpPr/>
            <p:nvPr/>
          </p:nvGrpSpPr>
          <p:grpSpPr>
            <a:xfrm>
              <a:off x="280156" y="561181"/>
              <a:ext cx="3886204" cy="666233"/>
              <a:chOff x="-1" y="0"/>
              <a:chExt cx="3886203" cy="666232"/>
            </a:xfrm>
          </p:grpSpPr>
          <p:sp>
            <p:nvSpPr>
              <p:cNvPr id="201" name="Rectangle"/>
              <p:cNvSpPr/>
              <p:nvPr/>
            </p:nvSpPr>
            <p:spPr>
              <a:xfrm>
                <a:off x="-2" y="-1"/>
                <a:ext cx="3886205" cy="666233"/>
              </a:xfrm>
              <a:prstGeom prst="rect">
                <a:avLst/>
              </a:prstGeom>
              <a:solidFill>
                <a:srgbClr val="404040"/>
              </a:solidFill>
              <a:ln w="19050" cap="flat">
                <a:solidFill>
                  <a:srgbClr val="FFC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4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02" name="Introduction"/>
              <p:cNvSpPr txBox="1"/>
              <p:nvPr/>
            </p:nvSpPr>
            <p:spPr>
              <a:xfrm>
                <a:off x="55244" y="9524"/>
                <a:ext cx="3775714" cy="64718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normAutofit fontScale="100000" lnSpcReduction="0"/>
              </a:bodyPr>
              <a:lstStyle/>
              <a:p>
                <a:pPr marL="68834" indent="-54864" defTabSz="146303">
                  <a:lnSpc>
                    <a:spcPct val="150000"/>
                  </a:lnSpc>
                  <a:buSzPts val="300"/>
                  <a:buFont typeface="Arial"/>
                  <a:buChar char="•"/>
                  <a:tabLst>
                    <a:tab pos="63500" algn="l"/>
                  </a:tabLst>
                  <a:defRPr b="1" sz="32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t>Introduction</a:t>
                </a:r>
                <a:endParaRPr sz="44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68834" indent="-54864" defTabSz="146303">
                  <a:lnSpc>
                    <a:spcPct val="150000"/>
                  </a:lnSpc>
                  <a:buSzPts val="300"/>
                  <a:buFont typeface="Arial"/>
                  <a:buChar char="•"/>
                  <a:tabLst>
                    <a:tab pos="63500" algn="l"/>
                  </a:tabLst>
                  <a:defRPr b="1" sz="32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  <a:p>
                <a:pPr marL="68834" indent="-54864" defTabSz="146303">
                  <a:lnSpc>
                    <a:spcPct val="150000"/>
                  </a:lnSpc>
                  <a:buSzPts val="300"/>
                  <a:buFont typeface="Arial"/>
                  <a:buChar char="•"/>
                  <a:tabLst>
                    <a:tab pos="63500" algn="l"/>
                  </a:tabLst>
                  <a:defRPr b="1" sz="32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  <a:p>
                <a:pPr marL="68834" indent="-54864" defTabSz="146303">
                  <a:lnSpc>
                    <a:spcPct val="150000"/>
                  </a:lnSpc>
                  <a:buSzPts val="300"/>
                  <a:buFont typeface="Arial"/>
                  <a:buChar char="•"/>
                  <a:tabLst>
                    <a:tab pos="63500" algn="l"/>
                  </a:tabLst>
                  <a:defRPr b="1" sz="32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  <a:p>
                <a:pPr marL="68834" indent="-54864" defTabSz="146303">
                  <a:lnSpc>
                    <a:spcPct val="150000"/>
                  </a:lnSpc>
                  <a:buSzPts val="300"/>
                  <a:buFont typeface="Arial"/>
                  <a:buChar char="•"/>
                  <a:tabLst>
                    <a:tab pos="63500" algn="l"/>
                  </a:tabLst>
                  <a:defRPr b="1" sz="32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  <a:p>
                <a:pPr marL="68834" indent="-54864" defTabSz="146303">
                  <a:lnSpc>
                    <a:spcPct val="150000"/>
                  </a:lnSpc>
                  <a:buSzPts val="300"/>
                  <a:buFont typeface="Arial"/>
                  <a:buChar char="•"/>
                  <a:tabLst>
                    <a:tab pos="63500" algn="l"/>
                  </a:tabLst>
                  <a:defRPr b="1" sz="32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  <a:p>
                <a:pPr marL="36575" indent="-36575" defTabSz="146303">
                  <a:lnSpc>
                    <a:spcPct val="130000"/>
                  </a:lnSpc>
                  <a:buSzPts val="300"/>
                  <a:buFont typeface="Arial"/>
                  <a:buChar char="•"/>
                  <a:defRPr sz="32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</p:grpSp>
        <p:sp>
          <p:nvSpPr>
            <p:cNvPr id="204" name="TextBox 13"/>
            <p:cNvSpPr txBox="1"/>
            <p:nvPr/>
          </p:nvSpPr>
          <p:spPr>
            <a:xfrm>
              <a:off x="560767" y="1116971"/>
              <a:ext cx="4004227" cy="391799"/>
            </a:xfrm>
            <a:prstGeom prst="rect">
              <a:avLst/>
            </a:prstGeom>
            <a:solidFill>
              <a:srgbClr val="404040"/>
            </a:solidFill>
            <a:ln w="19050" cap="flat">
              <a:solidFill>
                <a:srgbClr val="FFC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marL="430212" indent="-342900" defTabSz="457200">
                <a:lnSpc>
                  <a:spcPct val="150000"/>
                </a:lnSpc>
                <a:buSzPts val="2000"/>
                <a:buFont typeface="Arial"/>
                <a:buChar char="•"/>
                <a:tabLst>
                  <a:tab pos="444500" algn="l"/>
                </a:tabLst>
                <a:defRPr b="1" sz="2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Literature Survey</a:t>
              </a:r>
            </a:p>
          </p:txBody>
        </p:sp>
      </p:grpSp>
      <p:pic>
        <p:nvPicPr>
          <p:cNvPr id="206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49379" y="0"/>
            <a:ext cx="1901112" cy="6225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4"/>
          <p:cNvSpPr txBox="1"/>
          <p:nvPr/>
        </p:nvSpPr>
        <p:spPr>
          <a:xfrm>
            <a:off x="4037617" y="482232"/>
            <a:ext cx="4409600" cy="637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latin typeface="+mj-lt"/>
                <a:ea typeface="+mj-ea"/>
                <a:cs typeface="+mj-cs"/>
                <a:sym typeface="Aptos"/>
              </a:defRPr>
            </a:lvl1pPr>
          </a:lstStyle>
          <a:p>
            <a:pPr/>
            <a:r>
              <a:t>Problem Statement</a:t>
            </a:r>
          </a:p>
        </p:txBody>
      </p:sp>
      <p:pic>
        <p:nvPicPr>
          <p:cNvPr id="20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49379" y="0"/>
            <a:ext cx="1942621" cy="622550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Loan default is a major risk for banks and financial institutions.…"/>
          <p:cNvSpPr txBox="1"/>
          <p:nvPr/>
        </p:nvSpPr>
        <p:spPr>
          <a:xfrm>
            <a:off x="826287" y="1495488"/>
            <a:ext cx="10539426" cy="4003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defTabSz="457200">
              <a:spcBef>
                <a:spcPts val="1400"/>
              </a:spcBef>
              <a:defRPr b="1" sz="23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Loan default is a major risk for banks and financial institutions.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Traditional credit assessment can be time-consuming and may depend heavily on manual evaluation.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Customer creditworthiness depends on multiple factors such as </a:t>
            </a:r>
            <a:r>
              <a:rPr b="1"/>
              <a:t>income, age, employment, loan amount, credit history, existing loans, and repayment behavior</a:t>
            </a:r>
            <a:r>
              <a:t>.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 system is required to automatically analyze these factors and </a:t>
            </a:r>
            <a:r>
              <a:rPr b="1"/>
              <a:t>classify customers according to their credit risk</a:t>
            </a:r>
            <a:r>
              <a:t>.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project aims to develop a machine-learning-based system that can support faster and more consistent credit-risk assessment.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Box 4"/>
          <p:cNvSpPr txBox="1"/>
          <p:nvPr/>
        </p:nvSpPr>
        <p:spPr>
          <a:xfrm>
            <a:off x="3093718" y="469169"/>
            <a:ext cx="6004563" cy="637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3600">
                <a:latin typeface="+mj-lt"/>
                <a:ea typeface="+mj-ea"/>
                <a:cs typeface="+mj-cs"/>
                <a:sym typeface="Aptos"/>
              </a:defRPr>
            </a:lvl1pPr>
          </a:lstStyle>
          <a:p>
            <a:pPr/>
            <a:r>
              <a:t>Objectives</a:t>
            </a:r>
          </a:p>
        </p:txBody>
      </p:sp>
      <p:pic>
        <p:nvPicPr>
          <p:cNvPr id="21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49379" y="0"/>
            <a:ext cx="1942621" cy="622550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To collect and preprocess customer financial and loan-related data.…"/>
          <p:cNvSpPr txBox="1"/>
          <p:nvPr/>
        </p:nvSpPr>
        <p:spPr>
          <a:xfrm>
            <a:off x="960834" y="1630769"/>
            <a:ext cx="10822566" cy="435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 collect and preprocess customer financial and loan-related data.</a:t>
            </a: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 identify important factors influencing credit risk.</a:t>
            </a: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 implement and compare multiple machine learning algorithms: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Logistic Regression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Decision Tree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Random Forest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Support Vector Machine (SVM)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K-Nearest Neighbours (KNN)</a:t>
            </a: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 evaluate models using </a:t>
            </a:r>
            <a:r>
              <a:rPr b="1"/>
              <a:t>Accuracy, Precision, Recall, F1-score and Confusion Matrix</a:t>
            </a:r>
            <a:r>
              <a:t>.</a:t>
            </a: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 classify customers into </a:t>
            </a:r>
            <a:r>
              <a:rPr b="1"/>
              <a:t>Low, Medium and High credit-risk categories</a:t>
            </a:r>
            <a:r>
              <a:t>.</a:t>
            </a: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 develop a simple interface for entering customer information and obtaining a risk prediction.</a:t>
            </a: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 provide a foundation for faster and data-driven credit assessment.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Box 1"/>
          <p:cNvSpPr txBox="1"/>
          <p:nvPr/>
        </p:nvSpPr>
        <p:spPr>
          <a:xfrm>
            <a:off x="4606285" y="136524"/>
            <a:ext cx="2979430" cy="482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800">
                <a:solidFill>
                  <a:srgbClr val="0064C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Literature Survey</a:t>
            </a:r>
          </a:p>
        </p:txBody>
      </p:sp>
      <p:sp>
        <p:nvSpPr>
          <p:cNvPr id="217" name="Slide Number Placeholder 9"/>
          <p:cNvSpPr txBox="1"/>
          <p:nvPr>
            <p:ph type="sldNum" sz="quarter" idx="4294967295"/>
          </p:nvPr>
        </p:nvSpPr>
        <p:spPr>
          <a:xfrm>
            <a:off x="11164902" y="6404292"/>
            <a:ext cx="188896" cy="26923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18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49379" y="0"/>
            <a:ext cx="1942621" cy="622550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19" name="Table 1"/>
          <p:cNvGraphicFramePr/>
          <p:nvPr/>
        </p:nvGraphicFramePr>
        <p:xfrm>
          <a:off x="1162050" y="914400"/>
          <a:ext cx="10454902" cy="50673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40231"/>
                <a:gridCol w="1433581"/>
                <a:gridCol w="3408092"/>
                <a:gridCol w="2489793"/>
                <a:gridCol w="2383205"/>
              </a:tblGrid>
              <a:tr h="292100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1200"/>
                        <a:t>Authors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1200"/>
                        <a:t>Title of the Paper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1200"/>
                        <a:t>Methodology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1200"/>
                        <a:t>Inferences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1200"/>
                        <a:t>Limitation / Future Work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10490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200"/>
                        <a:t>Hand &amp; Henley [1]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i="1"/>
                      </a:pPr>
                      <a:r>
                        <a:t>Statistical Classification Methods in Consumer Credit Scoring: A Review</a:t>
                      </a:r>
                      <a:r>
                        <a:rPr i="0"/>
                        <a:t> (1997)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/>
                        <a:t>• Reviewed statistical classification techniques used in consumer credit scoring.• Discussed discriminant analysis and other classification approaches.• Examined issues specific to credit-risk classification.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/>
                        <a:t>• Established credit scoring as a classification problem for distinguishing different levels of creditworthiness.• Highlighted the importance of statistical methods in credit assessment.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/>
                        <a:t>• Focused primarily on traditional statistical approaches.• Modern machine-learning methods were not considered because of the period of publication.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28270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200"/>
                        <a:t>Brown &amp; Mues [2]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i="1"/>
                      </a:pPr>
                      <a:r>
                        <a:t>An Experimental Comparison of Classification Algorithms for Imbalanced Credit Scoring Data Sets</a:t>
                      </a:r>
                      <a:r>
                        <a:rPr i="0"/>
                        <a:t> (2012)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/>
                        <a:t>• Compared Logistic Regression, Neural Networks, Decision Trees, Random Forests, Gradient Boosting and other classifiers.• Evaluated five real-world credit-scoring datasets.• Studied the effect of class imbalance using AUC.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/>
                        <a:t>• Random Forest and Gradient Boosting performed well under class imbalance.• Class imbalance can significantly affect the performance of some classifiers.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/>
                        <a:t>• Focused mainly on binary default classification.• Results depend on the datasets and imbalance conditions used in the experiments.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28270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200"/>
                        <a:t>Lessmann et al. [3]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i="1"/>
                      </a:pPr>
                      <a:r>
                        <a:t>Benchmarking State-of-the-Art Classification Algorithms for Credit Scoring: An Update of Research</a:t>
                      </a:r>
                      <a:r>
                        <a:rPr i="0"/>
                        <a:t> (2015)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t>• Benchmarked </a:t>
                      </a:r>
                      <a:r>
                        <a:rPr b="1"/>
                        <a:t>41 classification algorithms</a:t>
                      </a:r>
                      <a:r>
                        <a:t>.• Used </a:t>
                      </a:r>
                      <a:r>
                        <a:rPr b="1"/>
                        <a:t>8 real-world credit-scoring datasets</a:t>
                      </a:r>
                      <a:r>
                        <a:t>.• Compared multiple predictive-performance measures.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/>
                        <a:t>• Demonstrated that different classifiers can produce substantially different credit-scoring performance.• Highlighted the importance of systematic benchmarking when selecting a classifier.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/>
                        <a:t>• Large-scale benchmarking may not directly represent the characteristics of every institution's dataset.• Model performance and financial usefulness need to be considered together.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10490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200"/>
                        <a:t>Proposed System [4]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i="1" sz="1200"/>
                        <a:t>Machine Learning Based Credit Risk Scoring System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/>
                        <a:t>• Data preprocessing and feature selection.• Comparison of Logistic Regression, Decision Tree, Random Forest, SVM and KNN.• Evaluation using Accuracy, Precision, Recall, F1-score and Confusion Matrix.• Classification into Low, Medium and High risk.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/>
                        <a:t>• Provides a comparative framework for selecting an appropriate model for credit-risk prediction.• Combines multiple customer and loan attributes for risk assessment.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/>
                        <a:t>• Initial implementation may depend on historical/static datasets.• Future work can incorporate real-time financial data, explainable AI and advanced ML models.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Box 4"/>
          <p:cNvSpPr txBox="1"/>
          <p:nvPr/>
        </p:nvSpPr>
        <p:spPr>
          <a:xfrm>
            <a:off x="3093718" y="600079"/>
            <a:ext cx="6004563" cy="637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3600">
                <a:latin typeface="+mj-lt"/>
                <a:ea typeface="+mj-ea"/>
                <a:cs typeface="+mj-cs"/>
                <a:sym typeface="Aptos"/>
              </a:defRPr>
            </a:lvl1pPr>
          </a:lstStyle>
          <a:p>
            <a:pPr/>
            <a:r>
              <a:t>Problem Gap Identification</a:t>
            </a:r>
          </a:p>
        </p:txBody>
      </p:sp>
      <p:pic>
        <p:nvPicPr>
          <p:cNvPr id="22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49379" y="0"/>
            <a:ext cx="1942621" cy="622550"/>
          </a:xfrm>
          <a:prstGeom prst="rect">
            <a:avLst/>
          </a:prstGeom>
          <a:ln w="12700">
            <a:miter lim="400000"/>
          </a:ln>
        </p:spPr>
      </p:pic>
      <p:sp>
        <p:nvSpPr>
          <p:cNvPr id="223" name="Existing research demonstrates that machine learning algorithms can effectively support credit-risk classification.…"/>
          <p:cNvSpPr txBox="1"/>
          <p:nvPr/>
        </p:nvSpPr>
        <p:spPr>
          <a:xfrm>
            <a:off x="190514" y="1421619"/>
            <a:ext cx="11810972" cy="4714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Existing research demonstrates that machine learning algorithms can effectively support credit-risk classification.</a:t>
            </a: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However, model performance can vary significantly depending on the </a:t>
            </a:r>
            <a:r>
              <a:rPr b="1"/>
              <a:t>dataset, features and class distribution</a:t>
            </a:r>
            <a:r>
              <a:t>.</a:t>
            </a: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Many existing approaches focus primarily on </a:t>
            </a:r>
            <a:r>
              <a:rPr b="1"/>
              <a:t>binary classification</a:t>
            </a:r>
            <a:r>
              <a:t> such as </a:t>
            </a:r>
            <a:r>
              <a:rPr i="1"/>
              <a:t>default / non-default</a:t>
            </a:r>
            <a:r>
              <a:t>.</a:t>
            </a: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Customer financial attributes may contain missing values, outliers and imbalanced classes, requiring appropriate preprocessing.</a:t>
            </a: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Therefore, this project focuses on building an accessible credit-risk system that combines </a:t>
            </a:r>
            <a:r>
              <a:rPr b="1"/>
              <a:t>data preprocessing, multi-model comparison, evaluation and practical prediction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Box 4"/>
          <p:cNvSpPr txBox="1"/>
          <p:nvPr/>
        </p:nvSpPr>
        <p:spPr>
          <a:xfrm>
            <a:off x="1938778" y="567351"/>
            <a:ext cx="8314443" cy="637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3600">
                <a:latin typeface="+mj-lt"/>
                <a:ea typeface="+mj-ea"/>
                <a:cs typeface="+mj-cs"/>
                <a:sym typeface="Aptos"/>
              </a:defRPr>
            </a:lvl1pPr>
          </a:lstStyle>
          <a:p>
            <a:pPr/>
            <a:r>
              <a:t>Innovation, Creativity, and Novelty</a:t>
            </a:r>
          </a:p>
        </p:txBody>
      </p:sp>
      <p:pic>
        <p:nvPicPr>
          <p:cNvPr id="22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49379" y="0"/>
            <a:ext cx="1942621" cy="622550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Multi-model comparison: Compares five different ML algorithms under a common dataset and evaluation framework.…"/>
          <p:cNvSpPr txBox="1"/>
          <p:nvPr/>
        </p:nvSpPr>
        <p:spPr>
          <a:xfrm>
            <a:off x="205832" y="1496309"/>
            <a:ext cx="11780336" cy="435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defTabSz="457200">
              <a:defRPr b="1"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Multi-model comparison:</a:t>
            </a:r>
            <a:r>
              <a:rPr b="0"/>
              <a:t> Compares five different ML algorithms under a common dataset and evaluation framework.</a:t>
            </a:r>
          </a:p>
          <a:p>
            <a:pPr defTabSz="457200">
              <a:defRPr b="1"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Multi-level risk prediction:</a:t>
            </a:r>
            <a:r>
              <a:rPr b="0"/>
              <a:t> Extends prediction beyond simple default/non-default classification to Low, Medium and High Risk.</a:t>
            </a:r>
          </a:p>
          <a:p>
            <a:pPr defTabSz="457200">
              <a:defRPr b="1"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Comprehensive evaluation:</a:t>
            </a:r>
            <a:r>
              <a:rPr b="0"/>
              <a:t> Uses multiple metrics including Accuracy, Precision, Recall, F1-score and Confusion Matrix rather than relying on accuracy alone.</a:t>
            </a:r>
          </a:p>
          <a:p>
            <a:pPr defTabSz="457200">
              <a:defRPr b="1"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End-to-end system:</a:t>
            </a:r>
            <a:r>
              <a:rPr b="0"/>
              <a:t> Integrates data preprocessing, model training, evaluation and prediction into a single workflow.</a:t>
            </a:r>
          </a:p>
          <a:p>
            <a:pPr defTabSz="457200">
              <a:defRPr b="1"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User-oriented interface:</a:t>
            </a:r>
            <a:r>
              <a:rPr b="0"/>
              <a:t> Provides a simple interface through which customer information can be entered and the predicted risk category can be obtained.</a:t>
            </a:r>
          </a:p>
          <a:p>
            <a:pPr defTabSz="457200">
              <a:defRPr b="1"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Future extensibility:</a:t>
            </a:r>
            <a:r>
              <a:rPr b="0"/>
              <a:t> The architecture can later incorporate real-time banking data, explainable AI and advanced ensemble/deep-learning models.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Box 4"/>
          <p:cNvSpPr txBox="1"/>
          <p:nvPr/>
        </p:nvSpPr>
        <p:spPr>
          <a:xfrm>
            <a:off x="2661099" y="551057"/>
            <a:ext cx="7142576" cy="701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4000">
                <a:latin typeface="+mj-lt"/>
                <a:ea typeface="+mj-ea"/>
                <a:cs typeface="+mj-cs"/>
                <a:sym typeface="Aptos"/>
              </a:defRPr>
            </a:lvl1pPr>
          </a:lstStyle>
          <a:p>
            <a:pPr/>
            <a:r>
              <a:t>Feasibility and Project Plan</a:t>
            </a:r>
          </a:p>
        </p:txBody>
      </p:sp>
      <p:pic>
        <p:nvPicPr>
          <p:cNvPr id="23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49379" y="0"/>
            <a:ext cx="1942621" cy="622550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31" name="Table 1"/>
          <p:cNvGraphicFramePr/>
          <p:nvPr/>
        </p:nvGraphicFramePr>
        <p:xfrm>
          <a:off x="1146995" y="1632660"/>
          <a:ext cx="10683347" cy="429257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184603"/>
                <a:gridCol w="7498742"/>
              </a:tblGrid>
              <a:tr h="502055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1200"/>
                        <a:t>Project Phase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1200"/>
                        <a:t>Activities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78185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/>
                        <a:t>Data Collection &amp; Understanding (Week 1)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600"/>
                        <a:t>Collect a suitable credit-risk dataset and understand its features, target variable and data distribution.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02055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/>
                        <a:t>Data Preprocessing (Week 2)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600"/>
                        <a:t>Handle missing values, categorical variables, outliers, feature scaling and class imbalance.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02055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/>
                        <a:t>EDA &amp; Feature Engineering (Week 3)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600"/>
                        <a:t>Analyze relationships between customer attributes and credit risk and identify relevant features.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02055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/>
                        <a:t>Model Development (Weeks 4–5)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600"/>
                        <a:t>Train Logistic Regression, Decision Tree, Random Forest, SVM and KNN models.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02055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/>
                        <a:t>Model Evaluation (Week 6)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600"/>
                        <a:t>Compare models using Accuracy, Precision, Recall, F1-score and Confusion Matrix.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02055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/>
                        <a:t>Interface &amp; Integration (Week 7)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600"/>
                        <a:t>Develop the web interface and integrate the trained model for credit-risk prediction.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02055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/>
                        <a:t>Testing &amp; Documentation (Week 8)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600"/>
                        <a:t>Test the complete system, fix issues and prepare the final report and presentation.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