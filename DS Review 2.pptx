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 b="def" i="def"/>
      <a:tcStyle>
        <a:tcBdr/>
        <a:fill>
          <a:solidFill>
            <a:srgbClr val="E7E9EC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 b="def" i="def"/>
      <a:tcStyle>
        <a:tcBdr/>
        <a:fill>
          <a:solidFill>
            <a:srgbClr val="E7EA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 b="def" i="def"/>
      <a:tcStyle>
        <a:tcBdr/>
        <a:fill>
          <a:solidFill>
            <a:srgbClr val="E8F0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Shape 1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757575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6" y="2057400"/>
            <a:ext cx="3932242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93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5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0" indent="0" algn="ctr">
              <a:buSzTx/>
              <a:buFontTx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02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11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9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0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  <a:sym typeface="Calibri"/>
              </a:defRPr>
            </a:lvl1pPr>
            <a:lvl2pPr>
              <a:defRPr>
                <a:latin typeface="Calibri"/>
                <a:ea typeface="Calibri"/>
                <a:cs typeface="Calibri"/>
                <a:sym typeface="Calibri"/>
              </a:defRPr>
            </a:lvl2pPr>
            <a:lvl3pPr>
              <a:defRPr>
                <a:latin typeface="Calibri"/>
                <a:ea typeface="Calibri"/>
                <a:cs typeface="Calibri"/>
                <a:sym typeface="Calibri"/>
              </a:defRPr>
            </a:lvl3pPr>
            <a:lvl4pPr>
              <a:defRPr>
                <a:latin typeface="Calibri"/>
                <a:ea typeface="Calibri"/>
                <a:cs typeface="Calibri"/>
                <a:sym typeface="Calibri"/>
              </a:defRPr>
            </a:lvl4pPr>
            <a:lvl5pPr>
              <a:defRPr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29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5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2pPr>
            <a:lvl3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3pPr>
            <a:lvl4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4pPr>
            <a:lvl5pPr marL="0" indent="0">
              <a:buSzTx/>
              <a:buFontTx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131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39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54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marL="718457" indent="-261257">
              <a:defRPr sz="3200">
                <a:latin typeface="Calibri"/>
                <a:ea typeface="Calibri"/>
                <a:cs typeface="Calibri"/>
                <a:sym typeface="Calibri"/>
              </a:defRPr>
            </a:lvl2pPr>
            <a:lvl3pPr marL="1219200" indent="-304800">
              <a:defRPr sz="3200">
                <a:latin typeface="Calibri"/>
                <a:ea typeface="Calibri"/>
                <a:cs typeface="Calibri"/>
                <a:sym typeface="Calibri"/>
              </a:defRPr>
            </a:lvl3pPr>
            <a:lvl4pPr marL="1737360" indent="-365760">
              <a:defRPr sz="3200">
                <a:latin typeface="Calibri"/>
                <a:ea typeface="Calibri"/>
                <a:cs typeface="Calibri"/>
                <a:sym typeface="Calibri"/>
              </a:defRPr>
            </a:lvl4pPr>
            <a:lvl5pPr marL="2194560" indent="-365760">
              <a:defRPr sz="32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5" name="Text Placeholder 3"/>
          <p:cNvSpPr/>
          <p:nvPr>
            <p:ph type="body" sz="quarter" idx="21"/>
          </p:nvPr>
        </p:nvSpPr>
        <p:spPr>
          <a:xfrm>
            <a:off x="839786" y="2057400"/>
            <a:ext cx="3932242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6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latin typeface="Calibri Light"/>
                <a:ea typeface="Calibri Light"/>
                <a:cs typeface="Calibri Light"/>
                <a:sym typeface="Calibri Light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64" name="Picture Placeholder 2"/>
          <p:cNvSpPr/>
          <p:nvPr>
            <p:ph type="pic" sz="half" idx="21"/>
          </p:nvPr>
        </p:nvSpPr>
        <p:spPr>
          <a:xfrm>
            <a:off x="5183187" y="987425"/>
            <a:ext cx="6172203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5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1pPr>
            <a:lvl2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2pPr>
            <a:lvl3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3pPr>
            <a:lvl4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4pPr>
            <a:lvl5pPr marL="0" indent="0">
              <a:buSzTx/>
              <a:buFontTx/>
              <a:buNone/>
              <a:defRPr sz="1600">
                <a:latin typeface="Calibri"/>
                <a:ea typeface="Calibri"/>
                <a:cs typeface="Calibri"/>
                <a:sym typeface="Calibri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6" name="Slide Number"/>
          <p:cNvSpPr txBox="1"/>
          <p:nvPr>
            <p:ph type="sldNum" sz="quarter" idx="2"/>
          </p:nvPr>
        </p:nvSpPr>
        <p:spPr>
          <a:xfrm>
            <a:off x="11095181" y="6414762"/>
            <a:ext cx="258620" cy="24830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80149" y="6404294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Aptos Display"/>
          <a:ea typeface="Aptos Display"/>
          <a:cs typeface="Aptos Display"/>
          <a:sym typeface="Aptos Display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ptos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Apto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Footer Placeholder 34"/>
          <p:cNvSpPr txBox="1"/>
          <p:nvPr/>
        </p:nvSpPr>
        <p:spPr>
          <a:xfrm>
            <a:off x="4084318" y="6404292"/>
            <a:ext cx="4023364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DS Project Review-2</a:t>
            </a:r>
          </a:p>
        </p:txBody>
      </p:sp>
      <p:graphicFrame>
        <p:nvGraphicFramePr>
          <p:cNvPr id="176" name="Table 17"/>
          <p:cNvGraphicFramePr/>
          <p:nvPr/>
        </p:nvGraphicFramePr>
        <p:xfrm>
          <a:off x="8193271" y="4898509"/>
          <a:ext cx="3702053" cy="75237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702050"/>
              </a:tblGrid>
              <a:tr h="752368">
                <a:tc>
                  <a:txBody>
                    <a:bodyPr/>
                    <a:lstStyle/>
                    <a:p>
                      <a:pPr algn="l">
                        <a:defRPr b="1" sz="16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Team Members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  <a:defRPr sz="16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Rochan - 2420030176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  <a:defRPr sz="16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Adhithya Reddy- 2420030252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1000"/>
                        </a:spcBef>
                        <a:defRPr sz="1600">
                          <a:latin typeface="Calibri"/>
                          <a:ea typeface="Calibri"/>
                          <a:cs typeface="Calibri"/>
                          <a:sym typeface="Calibri"/>
                        </a:defRPr>
                      </a:pPr>
                      <a:r>
                        <a:t>Bhanu Prakash - 2420030374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grpSp>
        <p:nvGrpSpPr>
          <p:cNvPr id="179" name="Group 20"/>
          <p:cNvGrpSpPr/>
          <p:nvPr/>
        </p:nvGrpSpPr>
        <p:grpSpPr>
          <a:xfrm>
            <a:off x="7981125" y="4741588"/>
            <a:ext cx="307853" cy="280938"/>
            <a:chOff x="60999" y="66227"/>
            <a:chExt cx="307851" cy="280937"/>
          </a:xfrm>
        </p:grpSpPr>
        <p:sp>
          <p:nvSpPr>
            <p:cNvPr id="177" name="Isosceles Triangle 21"/>
            <p:cNvSpPr/>
            <p:nvPr/>
          </p:nvSpPr>
          <p:spPr>
            <a:xfrm rot="8294948">
              <a:off x="118151" y="90196"/>
              <a:ext cx="160851" cy="233001"/>
            </a:xfrm>
            <a:prstGeom prst="triangle">
              <a:avLst/>
            </a:prstGeom>
            <a:solidFill>
              <a:srgbClr val="FF66FF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  <p:sp>
          <p:nvSpPr>
            <p:cNvPr id="178" name="Isosceles Triangle 22"/>
            <p:cNvSpPr/>
            <p:nvPr/>
          </p:nvSpPr>
          <p:spPr>
            <a:xfrm rot="11852143">
              <a:off x="234148" y="116508"/>
              <a:ext cx="114251" cy="153384"/>
            </a:xfrm>
            <a:prstGeom prst="triangle">
              <a:avLst/>
            </a:prstGeom>
            <a:solidFill>
              <a:srgbClr val="FF66FF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</p:grpSp>
      <p:graphicFrame>
        <p:nvGraphicFramePr>
          <p:cNvPr id="180" name="Table 29"/>
          <p:cNvGraphicFramePr/>
          <p:nvPr/>
        </p:nvGraphicFramePr>
        <p:xfrm>
          <a:off x="-795815" y="4774124"/>
          <a:ext cx="5902329" cy="133212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373565"/>
                <a:gridCol w="4528760"/>
              </a:tblGrid>
              <a:tr h="1332118">
                <a:tc>
                  <a:txBody>
                    <a:bodyPr/>
                    <a:lstStyle/>
                    <a:p>
                      <a:pPr/>
                    </a:p>
                  </a:txBody>
                  <a:tcPr marL="45720" marR="45720" marT="45720" marB="45720" anchor="t" anchorCtr="0" horzOverflow="overflow">
                    <a:lnL w="12700">
                      <a:miter lim="400000"/>
                    </a:lnL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b="1" sz="5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</a:p>
                    <a:p>
                      <a:pPr algn="l">
                        <a:defRPr b="1" sz="16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Under the Guidance of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b="1" sz="160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Ms. B Prathusha</a:t>
                      </a:r>
                      <a:endParaRPr sz="1400"/>
                    </a:p>
                    <a:p>
                      <a:pPr algn="l">
                        <a:spcBef>
                          <a:spcPts val="200"/>
                        </a:spcBef>
                        <a:def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Assistant Professor, 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b="1"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Department of Computer Science and Engineering, </a:t>
                      </a:r>
                    </a:p>
                    <a:p>
                      <a:pPr algn="l">
                        <a:spcBef>
                          <a:spcPts val="200"/>
                        </a:spcBef>
                        <a:defRPr sz="1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defRPr>
                      </a:pPr>
                      <a:r>
                        <a:t>KLH CSE Bowrampet Campus</a:t>
                      </a:r>
                    </a:p>
                  </a:txBody>
                  <a:tcPr marL="45720" marR="45720" marT="45720" marB="45720" anchor="t" anchorCtr="0" horzOverflow="overflow"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</a:tcPr>
                </a:tc>
              </a:tr>
            </a:tbl>
          </a:graphicData>
        </a:graphic>
      </p:graphicFrame>
      <p:grpSp>
        <p:nvGrpSpPr>
          <p:cNvPr id="183" name="Group 30"/>
          <p:cNvGrpSpPr/>
          <p:nvPr/>
        </p:nvGrpSpPr>
        <p:grpSpPr>
          <a:xfrm>
            <a:off x="385365" y="4538577"/>
            <a:ext cx="307851" cy="280939"/>
            <a:chOff x="60999" y="66228"/>
            <a:chExt cx="307849" cy="280937"/>
          </a:xfrm>
        </p:grpSpPr>
        <p:sp>
          <p:nvSpPr>
            <p:cNvPr id="181" name="Isosceles Triangle 31"/>
            <p:cNvSpPr/>
            <p:nvPr/>
          </p:nvSpPr>
          <p:spPr>
            <a:xfrm rot="8294948">
              <a:off x="118152" y="90196"/>
              <a:ext cx="160850" cy="233002"/>
            </a:xfrm>
            <a:prstGeom prst="triangle">
              <a:avLst/>
            </a:prstGeom>
            <a:solidFill>
              <a:srgbClr val="00B0F0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  <p:sp>
          <p:nvSpPr>
            <p:cNvPr id="182" name="Isosceles Triangle 32"/>
            <p:cNvSpPr/>
            <p:nvPr/>
          </p:nvSpPr>
          <p:spPr>
            <a:xfrm rot="11852143">
              <a:off x="234148" y="116508"/>
              <a:ext cx="114250" cy="153384"/>
            </a:xfrm>
            <a:prstGeom prst="triangle">
              <a:avLst/>
            </a:prstGeom>
            <a:solidFill>
              <a:srgbClr val="00B0F0"/>
            </a:solidFill>
            <a:ln w="19050" cap="flat">
              <a:solidFill>
                <a:srgbClr val="092937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Aptos"/>
                </a:defRPr>
              </a:pPr>
            </a:p>
          </p:txBody>
        </p:sp>
      </p:grpSp>
      <p:sp>
        <p:nvSpPr>
          <p:cNvPr id="184" name="Date Placeholder 33"/>
          <p:cNvSpPr txBox="1"/>
          <p:nvPr/>
        </p:nvSpPr>
        <p:spPr>
          <a:xfrm>
            <a:off x="883919" y="6404292"/>
            <a:ext cx="2651762" cy="269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1200">
                <a:solidFill>
                  <a:srgbClr val="757575"/>
                </a:solidFill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Date</a:t>
            </a:r>
          </a:p>
        </p:txBody>
      </p:sp>
      <p:sp>
        <p:nvSpPr>
          <p:cNvPr id="185" name="Slide Number Placeholder 35"/>
          <p:cNvSpPr txBox="1"/>
          <p:nvPr>
            <p:ph type="sldNum" sz="quarter" idx="4294967295"/>
          </p:nvPr>
        </p:nvSpPr>
        <p:spPr>
          <a:xfrm>
            <a:off x="11164902" y="6404292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186" name="Rectangle: Rounded Corners 3"/>
          <p:cNvSpPr/>
          <p:nvPr/>
        </p:nvSpPr>
        <p:spPr>
          <a:xfrm>
            <a:off x="638175" y="769265"/>
            <a:ext cx="10915650" cy="985644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>
            <a:solidFill>
              <a:srgbClr val="092937"/>
            </a:solidFill>
            <a:miter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</p:txBody>
      </p:sp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188" name="TextBox 13"/>
          <p:cNvSpPr txBox="1"/>
          <p:nvPr/>
        </p:nvSpPr>
        <p:spPr>
          <a:xfrm>
            <a:off x="783907" y="1020719"/>
            <a:ext cx="10624186" cy="482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Credit Risk Scoring</a:t>
            </a:r>
          </a:p>
        </p:txBody>
      </p:sp>
      <p:sp>
        <p:nvSpPr>
          <p:cNvPr id="189" name="TextBox 16"/>
          <p:cNvSpPr txBox="1"/>
          <p:nvPr/>
        </p:nvSpPr>
        <p:spPr>
          <a:xfrm>
            <a:off x="783907" y="2246807"/>
            <a:ext cx="10624186" cy="544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2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DATA SCIENCE (24AD3107) Project Review-2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lide Number Placeholder 4"/>
          <p:cNvSpPr txBox="1"/>
          <p:nvPr>
            <p:ph type="sldNum" sz="quarter" idx="4294967295"/>
          </p:nvPr>
        </p:nvSpPr>
        <p:spPr>
          <a:xfrm>
            <a:off x="11172418" y="6414760"/>
            <a:ext cx="181378" cy="2483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7200">
              <a:defRPr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192" name="TextBox 8"/>
          <p:cNvSpPr txBox="1"/>
          <p:nvPr/>
        </p:nvSpPr>
        <p:spPr>
          <a:xfrm>
            <a:off x="3020903" y="173545"/>
            <a:ext cx="5854248" cy="6054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defRPr b="1" sz="3600">
                <a:solidFill>
                  <a:srgbClr val="4472C4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Outline of Project Work</a:t>
            </a:r>
          </a:p>
        </p:txBody>
      </p:sp>
      <p:grpSp>
        <p:nvGrpSpPr>
          <p:cNvPr id="205" name="Group 7"/>
          <p:cNvGrpSpPr/>
          <p:nvPr/>
        </p:nvGrpSpPr>
        <p:grpSpPr>
          <a:xfrm>
            <a:off x="2001358" y="1377991"/>
            <a:ext cx="6784437" cy="4193854"/>
            <a:chOff x="-1" y="0"/>
            <a:chExt cx="6784435" cy="4193852"/>
          </a:xfrm>
        </p:grpSpPr>
        <p:sp>
          <p:nvSpPr>
            <p:cNvPr id="193" name="TextBox 15"/>
            <p:cNvSpPr txBox="1"/>
            <p:nvPr/>
          </p:nvSpPr>
          <p:spPr>
            <a:xfrm>
              <a:off x="745889" y="1600779"/>
              <a:ext cx="4267379" cy="391797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buSzPts val="2000"/>
                <a:buFont typeface="Arial"/>
                <a:buChar char="•"/>
                <a:tabLst>
                  <a:tab pos="444500" algn="l"/>
                </a:tabLst>
                <a:defRPr b="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Challenges</a:t>
              </a:r>
            </a:p>
          </p:txBody>
        </p:sp>
        <p:sp>
          <p:nvSpPr>
            <p:cNvPr id="194" name="TextBox 17"/>
            <p:cNvSpPr txBox="1"/>
            <p:nvPr/>
          </p:nvSpPr>
          <p:spPr>
            <a:xfrm>
              <a:off x="993252" y="2096796"/>
              <a:ext cx="4374697" cy="367476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buSzPts val="1800"/>
                <a:buFont typeface="Arial"/>
                <a:buChar char="•"/>
                <a:tabLst>
                  <a:tab pos="444500" algn="l"/>
                </a:tabLst>
                <a:defRPr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Research Objectives</a:t>
              </a:r>
            </a:p>
          </p:txBody>
        </p:sp>
        <p:sp>
          <p:nvSpPr>
            <p:cNvPr id="195" name="TextBox 19"/>
            <p:cNvSpPr txBox="1"/>
            <p:nvPr/>
          </p:nvSpPr>
          <p:spPr>
            <a:xfrm>
              <a:off x="1210281" y="2676273"/>
              <a:ext cx="4529565" cy="367476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spcBef>
                  <a:spcPts val="500"/>
                </a:spcBef>
                <a:buSzPts val="1800"/>
                <a:buFont typeface="Arial"/>
                <a:buChar char="•"/>
                <a:tabLst>
                  <a:tab pos="444500" algn="l"/>
                </a:tabLst>
                <a:defRPr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Conclusion &amp; Future Work</a:t>
              </a:r>
            </a:p>
          </p:txBody>
        </p:sp>
        <p:sp>
          <p:nvSpPr>
            <p:cNvPr id="196" name="TextBox 21"/>
            <p:cNvSpPr txBox="1"/>
            <p:nvPr/>
          </p:nvSpPr>
          <p:spPr>
            <a:xfrm>
              <a:off x="1496508" y="3223665"/>
              <a:ext cx="4774679" cy="824552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/>
            <a:p>
              <a:pPr marL="430212" indent="-342900" defTabSz="457200">
                <a:lnSpc>
                  <a:spcPct val="150000"/>
                </a:lnSpc>
                <a:spcBef>
                  <a:spcPts val="500"/>
                </a:spcBef>
                <a:buSzPts val="2000"/>
                <a:buFont typeface="Arial"/>
                <a:buChar char="•"/>
                <a:tabLst>
                  <a:tab pos="444500" algn="l"/>
                </a:tabLst>
                <a:defRPr b="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r>
                <a:t>References</a:t>
              </a:r>
              <a:br/>
            </a:p>
          </p:txBody>
        </p:sp>
        <p:sp>
          <p:nvSpPr>
            <p:cNvPr id="197" name="TextBox 23"/>
            <p:cNvSpPr txBox="1"/>
            <p:nvPr/>
          </p:nvSpPr>
          <p:spPr>
            <a:xfrm>
              <a:off x="1892905" y="3826376"/>
              <a:ext cx="4891530" cy="367476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spcBef>
                  <a:spcPts val="500"/>
                </a:spcBef>
                <a:buSzPts val="1800"/>
                <a:buFont typeface="Arial"/>
                <a:buChar char="•"/>
                <a:tabLst>
                  <a:tab pos="444500" algn="l"/>
                </a:tabLst>
                <a:defRPr b="1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Publications Details</a:t>
              </a:r>
            </a:p>
          </p:txBody>
        </p:sp>
        <p:grpSp>
          <p:nvGrpSpPr>
            <p:cNvPr id="200" name="Content Placeholder 11"/>
            <p:cNvGrpSpPr/>
            <p:nvPr/>
          </p:nvGrpSpPr>
          <p:grpSpPr>
            <a:xfrm>
              <a:off x="-2" y="-1"/>
              <a:ext cx="3548334" cy="749000"/>
              <a:chOff x="-1" y="-1"/>
              <a:chExt cx="3548333" cy="748999"/>
            </a:xfrm>
          </p:grpSpPr>
          <p:sp>
            <p:nvSpPr>
              <p:cNvPr id="198" name="Rectangle"/>
              <p:cNvSpPr/>
              <p:nvPr/>
            </p:nvSpPr>
            <p:spPr>
              <a:xfrm>
                <a:off x="-2" y="-2"/>
                <a:ext cx="3548334" cy="749000"/>
              </a:xfrm>
              <a:prstGeom prst="rect">
                <a:avLst/>
              </a:prstGeom>
              <a:solidFill>
                <a:srgbClr val="404040"/>
              </a:solidFill>
              <a:ln w="19050" cap="flat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199" name="Focus"/>
              <p:cNvSpPr txBox="1"/>
              <p:nvPr/>
            </p:nvSpPr>
            <p:spPr>
              <a:xfrm>
                <a:off x="55242" y="9523"/>
                <a:ext cx="3437845" cy="72995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rmAutofit fontScale="100000" lnSpcReduction="0"/>
              </a:bodyPr>
              <a:lstStyle/>
              <a:p>
                <a:pPr marL="84320" indent="-67207" defTabSz="179221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Focus</a:t>
                </a:r>
                <a:endParaRPr sz="50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84320" indent="-67207" defTabSz="179221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0" indent="-67207" defTabSz="179221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0" indent="-67207" defTabSz="179221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0" indent="-67207" defTabSz="179221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84320" indent="-67207" defTabSz="179221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762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  <p:grpSp>
          <p:nvGrpSpPr>
            <p:cNvPr id="203" name="Content Placeholder 11"/>
            <p:cNvGrpSpPr/>
            <p:nvPr/>
          </p:nvGrpSpPr>
          <p:grpSpPr>
            <a:xfrm>
              <a:off x="280154" y="561180"/>
              <a:ext cx="3886208" cy="666235"/>
              <a:chOff x="-1" y="0"/>
              <a:chExt cx="3886206" cy="666233"/>
            </a:xfrm>
          </p:grpSpPr>
          <p:sp>
            <p:nvSpPr>
              <p:cNvPr id="201" name="Rectangle"/>
              <p:cNvSpPr/>
              <p:nvPr/>
            </p:nvSpPr>
            <p:spPr>
              <a:xfrm>
                <a:off x="-2" y="-1"/>
                <a:ext cx="3886208" cy="666234"/>
              </a:xfrm>
              <a:prstGeom prst="rect">
                <a:avLst/>
              </a:prstGeom>
              <a:solidFill>
                <a:srgbClr val="404040"/>
              </a:solidFill>
              <a:ln w="19050" cap="flat">
                <a:solidFill>
                  <a:srgbClr val="FFC000"/>
                </a:solidFill>
                <a:prstDash val="solid"/>
                <a:miter lim="800000"/>
              </a:ln>
              <a:effectLst/>
            </p:spPr>
            <p:txBody>
              <a:bodyPr wrap="square" lIns="45718" tIns="45718" rIns="45718" bIns="45718" numCol="1" anchor="t">
                <a:noAutofit/>
              </a:bodyPr>
              <a:lstStyle/>
              <a:p>
                <a:pPr>
                  <a:defRPr sz="24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  <p:sp>
            <p:nvSpPr>
              <p:cNvPr id="202" name="Introduction"/>
              <p:cNvSpPr txBox="1"/>
              <p:nvPr/>
            </p:nvSpPr>
            <p:spPr>
              <a:xfrm>
                <a:off x="55245" y="9524"/>
                <a:ext cx="3775716" cy="647184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45718" tIns="45718" rIns="45718" bIns="45718" numCol="1" anchor="t">
                <a:normAutofit fontScale="100000" lnSpcReduction="0"/>
              </a:bodyPr>
              <a:lstStyle/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00">
                    <a:solidFill>
                      <a:srgbClr val="FFFFFF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  <a:r>
                  <a:t>Introduction</a:t>
                </a:r>
                <a:endParaRPr sz="400"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  <a:p>
                <a:pPr marL="68834" indent="-54864" defTabSz="146303">
                  <a:lnSpc>
                    <a:spcPct val="150000"/>
                  </a:lnSpc>
                  <a:buSzPts val="300"/>
                  <a:buFont typeface="Arial"/>
                  <a:buChar char="•"/>
                  <a:tabLst>
                    <a:tab pos="63500" algn="l"/>
                  </a:tabLst>
                  <a:defRPr b="1" sz="300">
                    <a:latin typeface="Times New Roman"/>
                    <a:ea typeface="Times New Roman"/>
                    <a:cs typeface="Times New Roman"/>
                    <a:sym typeface="Times New Roman"/>
                  </a:defRPr>
                </a:pPr>
              </a:p>
            </p:txBody>
          </p:sp>
        </p:grpSp>
        <p:sp>
          <p:nvSpPr>
            <p:cNvPr id="204" name="TextBox 13"/>
            <p:cNvSpPr txBox="1"/>
            <p:nvPr/>
          </p:nvSpPr>
          <p:spPr>
            <a:xfrm>
              <a:off x="560767" y="1116971"/>
              <a:ext cx="4004228" cy="391797"/>
            </a:xfrm>
            <a:prstGeom prst="rect">
              <a:avLst/>
            </a:prstGeom>
            <a:solidFill>
              <a:srgbClr val="404040"/>
            </a:solidFill>
            <a:ln w="19050" cap="flat">
              <a:solidFill>
                <a:srgbClr val="FFC000"/>
              </a:solidFill>
              <a:prstDash val="solid"/>
              <a:miter lim="8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t">
              <a:spAutoFit/>
            </a:bodyPr>
            <a:lstStyle>
              <a:lvl1pPr marL="430212" indent="-342900" defTabSz="457200">
                <a:lnSpc>
                  <a:spcPct val="150000"/>
                </a:lnSpc>
                <a:buSzPts val="2000"/>
                <a:buFont typeface="Arial"/>
                <a:buChar char="•"/>
                <a:tabLst>
                  <a:tab pos="444500" algn="l"/>
                </a:tabLst>
                <a:defRPr b="1" sz="2000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/>
              <a:r>
                <a:t>Literature Survey</a:t>
              </a:r>
            </a:p>
          </p:txBody>
        </p:sp>
      </p:grpSp>
      <p:pic>
        <p:nvPicPr>
          <p:cNvPr id="206" name="Picture 9" descr="Picture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01113" cy="622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4"/>
          <p:cNvSpPr txBox="1"/>
          <p:nvPr/>
        </p:nvSpPr>
        <p:spPr>
          <a:xfrm>
            <a:off x="4037617" y="482232"/>
            <a:ext cx="4409601" cy="63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Problem Statement</a:t>
            </a:r>
          </a:p>
        </p:txBody>
      </p:sp>
      <p:pic>
        <p:nvPicPr>
          <p:cNvPr id="2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Loan default is a major risk for banks and financial institutions.…"/>
          <p:cNvSpPr txBox="1"/>
          <p:nvPr/>
        </p:nvSpPr>
        <p:spPr>
          <a:xfrm>
            <a:off x="826286" y="1495487"/>
            <a:ext cx="10539428" cy="4003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spcBef>
                <a:spcPts val="1400"/>
              </a:spcBef>
              <a:defRPr b="1" sz="23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Loan default is a major risk for banks and financial institutions.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Traditional credit assessment can be time-consuming and may depend heavily on manual evaluation.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Customer creditworthiness depends on multiple factors such as </a:t>
            </a:r>
            <a:r>
              <a:rPr b="1"/>
              <a:t>income, age, employment, loan amount, credit history, existing loans, and repayment behavior</a:t>
            </a:r>
            <a:r>
              <a:t>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system is required to automatically analyze these factors and </a:t>
            </a:r>
            <a:r>
              <a:rPr b="1"/>
              <a:t>classify customers according to their credit risk</a:t>
            </a:r>
            <a:r>
              <a:t>.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3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project aims to develop a machine-learning-based system that can support faster and more consistent credit-risk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4"/>
          <p:cNvSpPr txBox="1"/>
          <p:nvPr/>
        </p:nvSpPr>
        <p:spPr>
          <a:xfrm>
            <a:off x="3093717" y="469168"/>
            <a:ext cx="6004564" cy="63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Objectives</a:t>
            </a:r>
          </a:p>
        </p:txBody>
      </p:sp>
      <p:pic>
        <p:nvPicPr>
          <p:cNvPr id="21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o collect and preprocess customer financial and loan-related data.…"/>
          <p:cNvSpPr txBox="1"/>
          <p:nvPr/>
        </p:nvSpPr>
        <p:spPr>
          <a:xfrm>
            <a:off x="960833" y="1630769"/>
            <a:ext cx="10822565" cy="435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collect and preprocess customer financial and loan-related data.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identify important factors influencing credit risk.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implement and compare multiple machine learning algorithms: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Logistic Regression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Decision Tree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Random Forest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Support Vector Machine (SVM)</a:t>
            </a:r>
          </a:p>
          <a:p>
            <a:pPr marL="457200" indent="-317500" defTabSz="457200">
              <a:buSzPct val="100000"/>
              <a:buFont typeface="Times Roman"/>
              <a:buChar char="•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K-Nearest Neighbours (KNN)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evaluate models using </a:t>
            </a:r>
            <a:r>
              <a:rPr b="1"/>
              <a:t>Accuracy, Precision, Recall, F1-score and Confusion Matrix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classify customers into </a:t>
            </a:r>
            <a:r>
              <a:rPr b="1"/>
              <a:t>Low, Medium and High credit-risk categories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develop a simple interface for entering customer information and obtaining a risk prediction.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 provide a foundation for faster and data-driven credit assessment.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 txBox="1"/>
          <p:nvPr/>
        </p:nvSpPr>
        <p:spPr>
          <a:xfrm>
            <a:off x="4606285" y="136524"/>
            <a:ext cx="2979431" cy="4827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800">
                <a:solidFill>
                  <a:srgbClr val="0064C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Literature Survey</a:t>
            </a:r>
          </a:p>
        </p:txBody>
      </p:sp>
      <p:sp>
        <p:nvSpPr>
          <p:cNvPr id="217" name="Slide Number Placeholder 9"/>
          <p:cNvSpPr txBox="1"/>
          <p:nvPr>
            <p:ph type="sldNum" sz="quarter" idx="4294967295"/>
          </p:nvPr>
        </p:nvSpPr>
        <p:spPr>
          <a:xfrm>
            <a:off x="11164902" y="6404292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218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19" name="Table 1"/>
          <p:cNvGraphicFramePr/>
          <p:nvPr/>
        </p:nvGraphicFramePr>
        <p:xfrm>
          <a:off x="1162050" y="914400"/>
          <a:ext cx="10454903" cy="50673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40231"/>
                <a:gridCol w="1433581"/>
                <a:gridCol w="3408092"/>
                <a:gridCol w="2489793"/>
                <a:gridCol w="2383205"/>
              </a:tblGrid>
              <a:tr h="292100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Authors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Title of the Paper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Methodology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Inferences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Limitation / Future Work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49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Hand &amp; Henley [1]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i="1"/>
                      </a:pPr>
                      <a:r>
                        <a:t>Statistical Classification Methods in Consumer Credit Scoring: A Review</a:t>
                      </a:r>
                      <a:r>
                        <a:rPr i="0"/>
                        <a:t> (1997)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Reviewed statistical classification techniques used in consumer credit scoring.• Discussed discriminant analysis and other classification approaches.• Examined issues specific to credit-risk classification.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Established credit scoring as a classification problem for distinguishing different levels of creditworthiness.• Highlighted the importance of statistical methods in credit assessment.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Focused primarily on traditional statistical approaches.• Modern machine-learning methods were not considered because of the period of publication.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827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Brown &amp; Mues [2]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i="1"/>
                      </a:pPr>
                      <a:r>
                        <a:t>An Experimental Comparison of Classification Algorithms for Imbalanced Credit Scoring Data Sets</a:t>
                      </a:r>
                      <a:r>
                        <a:rPr i="0"/>
                        <a:t> (2012)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Compared Logistic Regression, Neural Networks, Decision Trees, Random Forests, Gradient Boosting and other classifiers.• Evaluated five real-world credit-scoring datasets.• Studied the effect of class imbalance using AUC.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Random Forest and Gradient Boosting performed well under class imbalance.• Class imbalance can significantly affect the performance of some classifiers.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Focused mainly on binary default classification.• Results depend on the datasets and imbalance conditions used in the experiments.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2827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Lessmann et al. [3]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i="1"/>
                      </a:pPr>
                      <a:r>
                        <a:t>Benchmarking State-of-the-Art Classification Algorithms for Credit Scoring: An Update of Research</a:t>
                      </a:r>
                      <a:r>
                        <a:rPr i="0"/>
                        <a:t> (2015)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t>• Benchmarked </a:t>
                      </a:r>
                      <a:r>
                        <a:rPr b="1"/>
                        <a:t>41 classification algorithms</a:t>
                      </a:r>
                      <a:r>
                        <a:t>.• Used </a:t>
                      </a:r>
                      <a:r>
                        <a:rPr b="1"/>
                        <a:t>8 real-world credit-scoring datasets</a:t>
                      </a:r>
                      <a:r>
                        <a:t>.• Compared multiple predictive-performance measures.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Demonstrated that different classifiers can produce substantially different credit-scoring performance.• Highlighted the importance of systematic benchmarking when selecting a classifier.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Large-scale benchmarking may not directly represent the characteristics of every institution's dataset.• Model performance and financial usefulness need to be considered together.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1104900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200"/>
                        <a:t>Proposed System [4]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i="1" sz="1200"/>
                        <a:t>Machine Learning Based Credit Risk Scoring System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Data preprocessing and feature selection.• Comparison of Logistic Regression, Decision Tree, Random Forest, SVM and KNN.• Evaluation using Accuracy, Precision, Recall, F1-score and Confusion Matrix.• Classification into Low, Medium and High risk.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Provides a comparative framework for selecting an appropriate model for credit-risk prediction.• Combines multiple customer and loan attributes for risk assessment.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200"/>
                        <a:t>• Initial implementation may depend on historical/static datasets.• Future work can incorporate real-time financial data, explainable AI and advanced ML models.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TextBox 4"/>
          <p:cNvSpPr txBox="1"/>
          <p:nvPr/>
        </p:nvSpPr>
        <p:spPr>
          <a:xfrm>
            <a:off x="3093717" y="600079"/>
            <a:ext cx="6004564" cy="63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Problem Gap Identification</a:t>
            </a:r>
          </a:p>
        </p:txBody>
      </p:sp>
      <p:pic>
        <p:nvPicPr>
          <p:cNvPr id="22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23" name="Existing research demonstrates that machine learning algorithms can effectively support credit-risk classification.…"/>
          <p:cNvSpPr txBox="1"/>
          <p:nvPr/>
        </p:nvSpPr>
        <p:spPr>
          <a:xfrm>
            <a:off x="190513" y="1421619"/>
            <a:ext cx="11810974" cy="4714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Existing research demonstrates that machine learning algorithms can effectively support credit-risk classification.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However, model performance can vary significantly depending on the </a:t>
            </a:r>
            <a:r>
              <a:rPr b="1"/>
              <a:t>dataset, features and class distribution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Many existing approaches focus primarily on </a:t>
            </a:r>
            <a:r>
              <a:rPr b="1"/>
              <a:t>binary classification</a:t>
            </a:r>
            <a:r>
              <a:t> such as </a:t>
            </a:r>
            <a:r>
              <a:rPr i="1"/>
              <a:t>default / non-default</a:t>
            </a:r>
            <a:r>
              <a:t>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Customer financial attributes may contain missing values, outliers and imbalanced classes, requiring appropriate preprocessing.</a:t>
            </a: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defTabSz="457200"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Therefore, this project focuses on building an accessible credit-risk system that combines </a:t>
            </a:r>
            <a:r>
              <a:rPr b="1"/>
              <a:t>data preprocessing, multi-model comparison, evaluation and practical prediction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4"/>
          <p:cNvSpPr txBox="1"/>
          <p:nvPr/>
        </p:nvSpPr>
        <p:spPr>
          <a:xfrm>
            <a:off x="1938778" y="567350"/>
            <a:ext cx="8314443" cy="637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36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Innovation, Creativity, and Novelty</a:t>
            </a:r>
          </a:p>
        </p:txBody>
      </p:sp>
      <p:pic>
        <p:nvPicPr>
          <p:cNvPr id="22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sp>
        <p:nvSpPr>
          <p:cNvPr id="227" name="Multi-model comparison: Compares five different ML algorithms under a common dataset and evaluation framework.…"/>
          <p:cNvSpPr txBox="1"/>
          <p:nvPr/>
        </p:nvSpPr>
        <p:spPr>
          <a:xfrm>
            <a:off x="205832" y="1496308"/>
            <a:ext cx="11780336" cy="43586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Multi-model comparison:</a:t>
            </a:r>
            <a:r>
              <a:rPr b="0"/>
              <a:t> Compares five different ML algorithms under a common dataset and evaluation framework.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Multi-level risk prediction:</a:t>
            </a:r>
            <a:r>
              <a:rPr b="0"/>
              <a:t> Extends prediction beyond simple default/non-default classification to Low, Medium and High Risk.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Comprehensive evaluation:</a:t>
            </a:r>
            <a:r>
              <a:rPr b="0"/>
              <a:t> Uses multiple metrics including Accuracy, Precision, Recall, F1-score and Confusion Matrix rather than relying on accuracy alone.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End-to-end system:</a:t>
            </a:r>
            <a:r>
              <a:rPr b="0"/>
              <a:t> Integrates data preprocessing, model training, evaluation and prediction into a single workflow.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User-oriented interface:</a:t>
            </a:r>
            <a:r>
              <a:rPr b="0"/>
              <a:t> Provides a simple interface through which customer information can be entered and the predicted risk category can be obtained.</a:t>
            </a:r>
          </a:p>
          <a:p>
            <a:pPr defTabSz="457200">
              <a:defRPr b="1"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Future extensibility:</a:t>
            </a:r>
            <a:r>
              <a:rPr b="0"/>
              <a:t> The architecture can later incorporate real-time banking data, explainable AI and advanced ensemble/deep-learning models.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4"/>
          <p:cNvSpPr txBox="1"/>
          <p:nvPr/>
        </p:nvSpPr>
        <p:spPr>
          <a:xfrm>
            <a:off x="2661099" y="551057"/>
            <a:ext cx="7142575" cy="701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4000">
                <a:latin typeface="+mj-lt"/>
                <a:ea typeface="+mj-ea"/>
                <a:cs typeface="+mj-cs"/>
                <a:sym typeface="Aptos"/>
              </a:defRPr>
            </a:lvl1pPr>
          </a:lstStyle>
          <a:p>
            <a:pPr/>
            <a:r>
              <a:t>Feasibility and Project Plan</a:t>
            </a:r>
          </a:p>
        </p:txBody>
      </p:sp>
      <p:pic>
        <p:nvPicPr>
          <p:cNvPr id="23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249379" y="0"/>
            <a:ext cx="1942621" cy="622550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31" name="Table 1"/>
          <p:cNvGraphicFramePr/>
          <p:nvPr/>
        </p:nvGraphicFramePr>
        <p:xfrm>
          <a:off x="1146995" y="1632660"/>
          <a:ext cx="10683348" cy="429257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928226"/>
                <a:gridCol w="6755118"/>
              </a:tblGrid>
              <a:tr h="502055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Project Phase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/>
                        <a:t>Activities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77818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Data Collection &amp; Understanding (Week 1)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Collect a suitable credit-risk dataset and understand its features, target variable and data distribution.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Data Preprocessing (Week 2)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Handle missing values, categorical variables, outliers, feature scaling and class imbalance.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EDA &amp; Feature Engineering (Week 3)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Analyze relationships between customer attributes and credit risk and identify relevant features.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Model Development (Weeks 4–5)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Train Logistic Regression, Decision Tree, Random Forest, SVM and KNN models.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Model Evaluation (Week 6)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Compare models using Accuracy, Precision, Recall, F1-score and Confusion Matrix.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Interface &amp; Integration (Week 7)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Develop the web interface and integrate the trained model for credit-risk prediction.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  <a:tr h="502055"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b="1" sz="1500"/>
                        <a:t>Testing &amp; Documentation (Week 8)</a:t>
                      </a:r>
                    </a:p>
                  </a:txBody>
                  <a:tcPr marL="12700" marR="12700" marT="12700" marB="12700" anchor="ctr" anchorCtr="0" horzOverflow="overflow"/>
                </a:tc>
                <a:tc>
                  <a:txBody>
                    <a:bodyPr/>
                    <a:lstStyle/>
                    <a:p>
                      <a:pPr algn="l" defTabSz="457200">
                        <a:defRPr sz="1800"/>
                      </a:pPr>
                      <a:r>
                        <a:rPr sz="1600"/>
                        <a:t>Test the complete system, fix issues and prepare the final report and presentation.</a:t>
                      </a:r>
                    </a:p>
                  </a:txBody>
                  <a:tcPr marL="12700" marR="12700" marT="12700" marB="1270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